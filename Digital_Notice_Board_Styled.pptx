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>
                <a:solidFill>
                  <a:srgbClr val="FFFFFF"/>
                </a:solidFill>
              </a:rPr>
              <a:t>Digital Notice Board System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</a:pPr>
            <a:r>
              <a:rPr lang="en-US">
                <a:solidFill>
                  <a:srgbClr val="FFFFFF"/>
                </a:solidFill>
              </a:rPr>
              <a:t>Real-time Campus Communication Platform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8E6FF"/>
              </a:buClr>
              <a:buSzPts val="4400"/>
              <a:buFont typeface="Calibri"/>
              <a:buNone/>
            </a:pPr>
            <a:r>
              <a:rPr lang="en-US">
                <a:solidFill>
                  <a:srgbClr val="C8E6FF"/>
                </a:solidFill>
              </a:rPr>
              <a:t>Problem Statement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8E6FF"/>
              </a:buClr>
              <a:buSzPts val="3200"/>
              <a:buChar char="•"/>
            </a:pPr>
            <a:r>
              <a:rPr lang="en-US">
                <a:solidFill>
                  <a:srgbClr val="C8E6FF"/>
                </a:solidFill>
              </a:rPr>
              <a:t>Paper notices create clutter and waste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8E6FF"/>
              </a:buClr>
              <a:buSzPts val="3200"/>
              <a:buChar char="•"/>
            </a:pPr>
            <a:r>
              <a:rPr lang="en-US">
                <a:solidFill>
                  <a:srgbClr val="C8E6FF"/>
                </a:solidFill>
              </a:rPr>
              <a:t>No instant updates for urgent announcements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8E6FF"/>
              </a:buClr>
              <a:buSzPts val="3200"/>
              <a:buChar char="•"/>
            </a:pPr>
            <a:r>
              <a:rPr lang="en-US">
                <a:solidFill>
                  <a:srgbClr val="C8E6FF"/>
                </a:solidFill>
              </a:rPr>
              <a:t>Students miss important information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8E6FF"/>
              </a:buClr>
              <a:buSzPts val="3200"/>
              <a:buChar char="•"/>
            </a:pPr>
            <a:r>
              <a:rPr lang="en-US">
                <a:solidFill>
                  <a:srgbClr val="C8E6FF"/>
                </a:solidFill>
              </a:rPr>
              <a:t>No centralized communication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8E6FF"/>
              </a:buClr>
              <a:buSzPts val="4400"/>
              <a:buFont typeface="Calibri"/>
              <a:buNone/>
            </a:pPr>
            <a:r>
              <a:rPr lang="en-US">
                <a:solidFill>
                  <a:srgbClr val="C8E6FF"/>
                </a:solidFill>
              </a:rPr>
              <a:t>Proposed Solution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8E6FF"/>
              </a:buClr>
              <a:buSzPts val="3200"/>
              <a:buChar char="•"/>
            </a:pPr>
            <a:r>
              <a:rPr lang="en-US">
                <a:solidFill>
                  <a:srgbClr val="C8E6FF"/>
                </a:solidFill>
              </a:rPr>
              <a:t>Cloud-based digital notice system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8E6FF"/>
              </a:buClr>
              <a:buSzPts val="3200"/>
              <a:buChar char="•"/>
            </a:pPr>
            <a:r>
              <a:rPr lang="en-US">
                <a:solidFill>
                  <a:srgbClr val="C8E6FF"/>
                </a:solidFill>
              </a:rPr>
              <a:t>Instant updates across devices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8E6FF"/>
              </a:buClr>
              <a:buSzPts val="3200"/>
              <a:buChar char="•"/>
            </a:pPr>
            <a:r>
              <a:rPr lang="en-US">
                <a:solidFill>
                  <a:srgbClr val="C8E6FF"/>
                </a:solidFill>
              </a:rPr>
              <a:t>Accessible via mobile and displays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8E6FF"/>
              </a:buClr>
              <a:buSzPts val="3200"/>
              <a:buChar char="•"/>
            </a:pPr>
            <a:r>
              <a:rPr lang="en-US">
                <a:solidFill>
                  <a:srgbClr val="C8E6FF"/>
                </a:solidFill>
              </a:rPr>
              <a:t>Centralized information hub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8E6FF"/>
              </a:buClr>
              <a:buSzPts val="4400"/>
              <a:buFont typeface="Calibri"/>
              <a:buNone/>
            </a:pPr>
            <a:r>
              <a:rPr lang="en-US">
                <a:solidFill>
                  <a:srgbClr val="C8E6FF"/>
                </a:solidFill>
              </a:rPr>
              <a:t>Key Features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8E6FF"/>
              </a:buClr>
              <a:buSzPts val="3200"/>
              <a:buChar char="•"/>
            </a:pPr>
            <a:r>
              <a:rPr lang="en-US">
                <a:solidFill>
                  <a:srgbClr val="C8E6FF"/>
                </a:solidFill>
              </a:rPr>
              <a:t>Role-based access (Student/Teacher/Admin)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8E6FF"/>
              </a:buClr>
              <a:buSzPts val="3200"/>
              <a:buChar char="•"/>
            </a:pPr>
            <a:r>
              <a:rPr lang="en-US">
                <a:solidFill>
                  <a:srgbClr val="C8E6FF"/>
                </a:solidFill>
              </a:rPr>
              <a:t>Real-time updates (WebSockets)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8E6FF"/>
              </a:buClr>
              <a:buSzPts val="3200"/>
              <a:buChar char="•"/>
            </a:pPr>
            <a:r>
              <a:rPr lang="en-US">
                <a:solidFill>
                  <a:srgbClr val="C8E6FF"/>
                </a:solidFill>
              </a:rPr>
              <a:t>Categorized notices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8E6FF"/>
              </a:buClr>
              <a:buSzPts val="3200"/>
              <a:buChar char="•"/>
            </a:pPr>
            <a:r>
              <a:rPr lang="en-US">
                <a:solidFill>
                  <a:srgbClr val="C8E6FF"/>
                </a:solidFill>
              </a:rPr>
              <a:t>Multimedia support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8E6FF"/>
              </a:buClr>
              <a:buSzPts val="4400"/>
              <a:buFont typeface="Calibri"/>
              <a:buNone/>
            </a:pPr>
            <a:r>
              <a:rPr lang="en-US">
                <a:solidFill>
                  <a:srgbClr val="C8E6FF"/>
                </a:solidFill>
              </a:rPr>
              <a:t>System Architecture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8E6FF"/>
              </a:buClr>
              <a:buSzPts val="3200"/>
              <a:buChar char="•"/>
            </a:pPr>
            <a:r>
              <a:rPr lang="en-US">
                <a:solidFill>
                  <a:srgbClr val="C8E6FF"/>
                </a:solidFill>
              </a:rPr>
              <a:t>Admin creates notice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8E6FF"/>
              </a:buClr>
              <a:buSzPts val="3200"/>
              <a:buChar char="•"/>
            </a:pPr>
            <a:r>
              <a:rPr lang="en-US">
                <a:solidFill>
                  <a:srgbClr val="C8E6FF"/>
                </a:solidFill>
              </a:rPr>
              <a:t>Server processes data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8E6FF"/>
              </a:buClr>
              <a:buSzPts val="3200"/>
              <a:buChar char="•"/>
            </a:pPr>
            <a:r>
              <a:rPr lang="en-US">
                <a:solidFill>
                  <a:srgbClr val="C8E6FF"/>
                </a:solidFill>
              </a:rPr>
              <a:t>Database stores notices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8E6FF"/>
              </a:buClr>
              <a:buSzPts val="3200"/>
              <a:buChar char="•"/>
            </a:pPr>
            <a:r>
              <a:rPr lang="en-US">
                <a:solidFill>
                  <a:srgbClr val="C8E6FF"/>
                </a:solidFill>
              </a:rPr>
              <a:t>Instant push to users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4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FFC8"/>
              </a:buClr>
              <a:buSzPts val="4400"/>
              <a:buFont typeface="Calibri"/>
              <a:buNone/>
            </a:pPr>
            <a:r>
              <a:rPr lang="en-US">
                <a:solidFill>
                  <a:srgbClr val="00FFC8"/>
                </a:solidFill>
              </a:rPr>
              <a:t>Login System</a:t>
            </a:r>
            <a:endParaRPr/>
          </a:p>
        </p:txBody>
      </p:sp>
      <p:pic>
        <p:nvPicPr>
          <p:cNvPr descr="file_00000000a2ac720d8f2066d9301dea34" id="115" name="Google Shape;1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71600"/>
            <a:ext cx="8229600" cy="3702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4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FFC8"/>
              </a:buClr>
              <a:buSzPts val="4400"/>
              <a:buFont typeface="Calibri"/>
              <a:buNone/>
            </a:pPr>
            <a:r>
              <a:rPr lang="en-US">
                <a:solidFill>
                  <a:srgbClr val="00FFC8"/>
                </a:solidFill>
              </a:rPr>
              <a:t>Teacher Portal</a:t>
            </a:r>
            <a:endParaRPr/>
          </a:p>
        </p:txBody>
      </p:sp>
      <p:pic>
        <p:nvPicPr>
          <p:cNvPr descr="file_00000000b5bc7208a31e4fa205498ac8" id="121" name="Google Shape;12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71600"/>
            <a:ext cx="8229600" cy="3702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4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FFC8"/>
              </a:buClr>
              <a:buSzPts val="4400"/>
              <a:buFont typeface="Calibri"/>
              <a:buNone/>
            </a:pPr>
            <a:r>
              <a:rPr lang="en-US">
                <a:solidFill>
                  <a:srgbClr val="00FFC8"/>
                </a:solidFill>
              </a:rPr>
              <a:t>Admin Panel</a:t>
            </a:r>
            <a:endParaRPr/>
          </a:p>
        </p:txBody>
      </p:sp>
      <p:pic>
        <p:nvPicPr>
          <p:cNvPr descr="file_0000000065ec71f5bf7e2a5ac55e4ed8" id="127" name="Google Shape;1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71600"/>
            <a:ext cx="8229600" cy="3702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4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FFC8"/>
              </a:buClr>
              <a:buSzPts val="4400"/>
              <a:buFont typeface="Calibri"/>
              <a:buNone/>
            </a:pPr>
            <a:r>
              <a:rPr lang="en-US">
                <a:solidFill>
                  <a:srgbClr val="00FFC8"/>
                </a:solidFill>
              </a:rPr>
              <a:t>Notice Creation</a:t>
            </a:r>
            <a:endParaRPr/>
          </a:p>
        </p:txBody>
      </p:sp>
      <p:pic>
        <p:nvPicPr>
          <p:cNvPr descr="file_000000006d5c71f6b0ebadbc3ed5fa1a" id="133" name="Google Shape;1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71600"/>
            <a:ext cx="8229600" cy="3702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4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FFC8"/>
              </a:buClr>
              <a:buSzPts val="4400"/>
              <a:buFont typeface="Calibri"/>
              <a:buNone/>
            </a:pPr>
            <a:r>
              <a:rPr lang="en-US">
                <a:solidFill>
                  <a:srgbClr val="00FFC8"/>
                </a:solidFill>
              </a:rPr>
              <a:t>User Management</a:t>
            </a:r>
            <a:endParaRPr/>
          </a:p>
        </p:txBody>
      </p:sp>
      <p:pic>
        <p:nvPicPr>
          <p:cNvPr descr="file_00000000ccc0720c9544096b3ffafc5a" id="139" name="Google Shape;13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71600"/>
            <a:ext cx="8229600" cy="3702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4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FFC8"/>
              </a:buClr>
              <a:buSzPts val="4400"/>
              <a:buFont typeface="Calibri"/>
              <a:buNone/>
            </a:pPr>
            <a:r>
              <a:rPr lang="en-US">
                <a:solidFill>
                  <a:srgbClr val="00FFC8"/>
                </a:solidFill>
              </a:rPr>
              <a:t>Display Board</a:t>
            </a:r>
            <a:endParaRPr/>
          </a:p>
        </p:txBody>
      </p:sp>
      <p:pic>
        <p:nvPicPr>
          <p:cNvPr descr="file_00000000868871f5aabee61e7c5df244" id="145" name="Google Shape;1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71600"/>
            <a:ext cx="8229600" cy="3702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8E6FF"/>
              </a:buClr>
              <a:buSzPts val="4400"/>
              <a:buFont typeface="Calibri"/>
              <a:buNone/>
            </a:pPr>
            <a:r>
              <a:rPr lang="en-US">
                <a:solidFill>
                  <a:srgbClr val="C8E6FF"/>
                </a:solidFill>
              </a:rPr>
              <a:t>Advantages</a:t>
            </a:r>
            <a:endParaRPr/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8E6FF"/>
              </a:buClr>
              <a:buSzPts val="3200"/>
              <a:buChar char="•"/>
            </a:pPr>
            <a:r>
              <a:rPr lang="en-US">
                <a:solidFill>
                  <a:srgbClr val="C8E6FF"/>
                </a:solidFill>
              </a:rPr>
              <a:t>Eco-friendly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8E6FF"/>
              </a:buClr>
              <a:buSzPts val="3200"/>
              <a:buChar char="•"/>
            </a:pPr>
            <a:r>
              <a:rPr lang="en-US">
                <a:solidFill>
                  <a:srgbClr val="C8E6FF"/>
                </a:solidFill>
              </a:rPr>
              <a:t>Instant communication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8E6FF"/>
              </a:buClr>
              <a:buSzPts val="3200"/>
              <a:buChar char="•"/>
            </a:pPr>
            <a:r>
              <a:rPr lang="en-US">
                <a:solidFill>
                  <a:srgbClr val="C8E6FF"/>
                </a:solidFill>
              </a:rPr>
              <a:t>Improved accessibility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8E6FF"/>
              </a:buClr>
              <a:buSzPts val="3200"/>
              <a:buChar char="•"/>
            </a:pPr>
            <a:r>
              <a:rPr lang="en-US">
                <a:solidFill>
                  <a:srgbClr val="C8E6FF"/>
                </a:solidFill>
              </a:rPr>
              <a:t>Scalable system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8E6FF"/>
              </a:buClr>
              <a:buSzPts val="4400"/>
              <a:buFont typeface="Calibri"/>
              <a:buNone/>
            </a:pPr>
            <a:r>
              <a:rPr lang="en-US">
                <a:solidFill>
                  <a:srgbClr val="C8E6FF"/>
                </a:solidFill>
              </a:rPr>
              <a:t>Conclusion</a:t>
            </a:r>
            <a:endParaRPr/>
          </a:p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8E6FF"/>
              </a:buClr>
              <a:buSzPts val="3200"/>
              <a:buChar char="•"/>
            </a:pPr>
            <a:r>
              <a:rPr lang="en-US">
                <a:solidFill>
                  <a:srgbClr val="C8E6FF"/>
                </a:solidFill>
              </a:rPr>
              <a:t>Transforms traditional boards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8E6FF"/>
              </a:buClr>
              <a:buSzPts val="3200"/>
              <a:buChar char="•"/>
            </a:pPr>
            <a:r>
              <a:rPr lang="en-US">
                <a:solidFill>
                  <a:srgbClr val="C8E6FF"/>
                </a:solidFill>
              </a:rPr>
              <a:t>Real-time communication system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8E6FF"/>
              </a:buClr>
              <a:buSzPts val="3200"/>
              <a:buChar char="•"/>
            </a:pPr>
            <a:r>
              <a:rPr lang="en-US">
                <a:solidFill>
                  <a:srgbClr val="C8E6FF"/>
                </a:solidFill>
              </a:rPr>
              <a:t>Efficient and modern solution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